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2" r:id="rId4"/>
    <p:sldId id="258" r:id="rId5"/>
    <p:sldId id="261" r:id="rId6"/>
    <p:sldId id="260" r:id="rId7"/>
  </p:sldIdLst>
  <p:sldSz cx="14630400" cy="8229600"/>
  <p:notesSz cx="8229600" cy="14630400"/>
  <p:embeddedFontLst>
    <p:embeddedFont>
      <p:font typeface="Patrick Hand" panose="00000500000000000000" pitchFamily="2" charset="0"/>
      <p:regular r:id="rId9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0374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6509C-8200-D3DB-2F2E-CEB71A7F6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F86B57-0A9D-42A1-5389-B52EF498C2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E6BBAD-0567-1468-A5EB-6A7EADFB69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B1050-F9AD-E7FA-D385-4629A5BCB2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0540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65DF1-D576-3E3F-7500-C0D7D5665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D22178-29BD-1311-7739-F576D4959E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76CD62-90EE-051F-E629-629BF194A1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F4DF78-36C7-9298-722C-933E6CA6ED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727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05139916-D9AC-28A9-8D66-EB3D308F536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68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Classificação: Restrito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4037" y="2877331"/>
            <a:ext cx="6183533" cy="138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850"/>
              </a:lnSpc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Treinador IA: Sistema RAG para a </a:t>
            </a:r>
          </a:p>
          <a:p>
            <a:pPr>
              <a:lnSpc>
                <a:spcPts val="4850"/>
              </a:lnSpc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Hipertrofia Inteligente</a:t>
            </a:r>
            <a:endParaRPr lang="en-US" sz="3850" dirty="0"/>
          </a:p>
        </p:txBody>
      </p:sp>
      <p:sp>
        <p:nvSpPr>
          <p:cNvPr id="5" name="Text 2"/>
          <p:cNvSpPr/>
          <p:nvPr/>
        </p:nvSpPr>
        <p:spPr>
          <a:xfrm>
            <a:off x="864037" y="4410908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Recomendação de divisões de treino e exercícios com IA</a:t>
            </a:r>
            <a:endParaRPr lang="en-US" sz="1900" dirty="0"/>
          </a:p>
        </p:txBody>
      </p:sp>
      <p:pic>
        <p:nvPicPr>
          <p:cNvPr id="7" name="Imagem 6" descr="Diagrama&#10;&#10;O conteúdo gerado por IA pode estar incorreto.">
            <a:extLst>
              <a:ext uri="{FF2B5EF4-FFF2-40B4-BE49-F238E27FC236}">
                <a16:creationId xmlns:a16="http://schemas.microsoft.com/office/drawing/2014/main" id="{A95AF397-D255-8C6E-E58D-2E03DDD62A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6" y="1696283"/>
            <a:ext cx="6451163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O problema: usúarios desinformados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864037" y="2683669"/>
            <a:ext cx="7415927" cy="1801416"/>
          </a:xfrm>
          <a:prstGeom prst="roundRect">
            <a:avLst>
              <a:gd name="adj" fmla="val 8122"/>
            </a:avLst>
          </a:prstGeom>
          <a:solidFill>
            <a:srgbClr val="F7F7F7"/>
          </a:solidFill>
          <a:ln w="304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2"/>
          <p:cNvSpPr/>
          <p:nvPr/>
        </p:nvSpPr>
        <p:spPr>
          <a:xfrm>
            <a:off x="833557" y="2683669"/>
            <a:ext cx="121920" cy="1801416"/>
          </a:xfrm>
          <a:prstGeom prst="roundRect">
            <a:avLst>
              <a:gd name="adj" fmla="val 85050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1232773" y="2960965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Informação Desatualizada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232773" y="3417689"/>
            <a:ext cx="676989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Conteúdo genérico sem embasamento científico, levando a treinos ineficazes e frustração.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64037" y="4731901"/>
            <a:ext cx="7415927" cy="1801416"/>
          </a:xfrm>
          <a:prstGeom prst="roundRect">
            <a:avLst>
              <a:gd name="adj" fmla="val 8122"/>
            </a:avLst>
          </a:prstGeom>
          <a:solidFill>
            <a:srgbClr val="F7F7F7"/>
          </a:solidFill>
          <a:ln w="304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833557" y="4731901"/>
            <a:ext cx="121920" cy="1801416"/>
          </a:xfrm>
          <a:prstGeom prst="roundRect">
            <a:avLst>
              <a:gd name="adj" fmla="val 85050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1232773" y="5009198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Insegurança na Academia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232773" y="5465921"/>
            <a:ext cx="676989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Usuários sem direcionamento claro, sem saber quais fontes confiar para otimizar seus resultados.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42D7D-B250-41BB-57A5-B01EAA855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E90DDD3-E0BA-E2E9-27F8-EF417CEC2AB1}"/>
              </a:ext>
            </a:extLst>
          </p:cNvPr>
          <p:cNvSpPr/>
          <p:nvPr/>
        </p:nvSpPr>
        <p:spPr>
          <a:xfrm>
            <a:off x="1487505" y="3665339"/>
            <a:ext cx="3586299" cy="449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3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Solução: IA com RAG</a:t>
            </a:r>
            <a:endParaRPr lang="en-US" sz="36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726BCEF-AEF9-5BF0-D14F-2CB965869B4E}"/>
              </a:ext>
            </a:extLst>
          </p:cNvPr>
          <p:cNvSpPr/>
          <p:nvPr/>
        </p:nvSpPr>
        <p:spPr>
          <a:xfrm>
            <a:off x="972264" y="3130391"/>
            <a:ext cx="5936218" cy="287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30B4DA9-55D3-083F-8134-E9149B1D53B8}"/>
              </a:ext>
            </a:extLst>
          </p:cNvPr>
          <p:cNvSpPr/>
          <p:nvPr/>
        </p:nvSpPr>
        <p:spPr>
          <a:xfrm>
            <a:off x="972264" y="5095518"/>
            <a:ext cx="5936218" cy="287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E0FC31DC-BFEB-51C9-453D-8EE2FFE57E6D}"/>
              </a:ext>
            </a:extLst>
          </p:cNvPr>
          <p:cNvSpPr/>
          <p:nvPr/>
        </p:nvSpPr>
        <p:spPr>
          <a:xfrm>
            <a:off x="972264" y="7060644"/>
            <a:ext cx="5936218" cy="287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  <p:pic>
        <p:nvPicPr>
          <p:cNvPr id="21" name="Imagem 20" descr="Interface gráfica do usuário, Texto, Aplicativo, chat ou mensagem de texto&#10;&#10;O conteúdo gerado por IA pode estar incorreto.">
            <a:extLst>
              <a:ext uri="{FF2B5EF4-FFF2-40B4-BE49-F238E27FC236}">
                <a16:creationId xmlns:a16="http://schemas.microsoft.com/office/drawing/2014/main" id="{0FF7EA6F-C438-FE6E-D9FD-68AE0D42C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9643" y="0"/>
            <a:ext cx="7070757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974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979" y="494348"/>
            <a:ext cx="3595568" cy="449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3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Nossa Solução: IA com RAG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84979" y="1393031"/>
            <a:ext cx="1797725" cy="224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Tecnologia por Trás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84979" y="1752957"/>
            <a:ext cx="6310789" cy="1785461"/>
          </a:xfrm>
          <a:prstGeom prst="roundRect">
            <a:avLst>
              <a:gd name="adj" fmla="val 4229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972264" y="2007156"/>
            <a:ext cx="539234" cy="539234"/>
          </a:xfrm>
          <a:prstGeom prst="roundRect">
            <a:avLst>
              <a:gd name="adj" fmla="val 16955692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0497" y="2155388"/>
            <a:ext cx="242649" cy="2426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2264" y="2726055"/>
            <a:ext cx="1797725" cy="224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Qdrant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72264" y="3130391"/>
            <a:ext cx="5936218" cy="287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Armazenamento vetorial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84979" y="3784997"/>
            <a:ext cx="6310789" cy="1785461"/>
          </a:xfrm>
          <a:prstGeom prst="roundRect">
            <a:avLst>
              <a:gd name="adj" fmla="val 4229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972264" y="3972282"/>
            <a:ext cx="539234" cy="539234"/>
          </a:xfrm>
          <a:prstGeom prst="roundRect">
            <a:avLst>
              <a:gd name="adj" fmla="val 16955692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0497" y="4120515"/>
            <a:ext cx="242649" cy="2426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72264" y="4691182"/>
            <a:ext cx="1797725" cy="224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SentenceTransformer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972264" y="5095518"/>
            <a:ext cx="5936218" cy="287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Embeddings inteligentes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84979" y="5750123"/>
            <a:ext cx="6310789" cy="1785461"/>
          </a:xfrm>
          <a:prstGeom prst="roundRect">
            <a:avLst>
              <a:gd name="adj" fmla="val 4229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972264" y="5937409"/>
            <a:ext cx="539234" cy="539234"/>
          </a:xfrm>
          <a:prstGeom prst="roundRect">
            <a:avLst>
              <a:gd name="adj" fmla="val 16955692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0497" y="6085642"/>
            <a:ext cx="242649" cy="2426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72264" y="6656308"/>
            <a:ext cx="1797725" cy="224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Gemini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972264" y="7060644"/>
            <a:ext cx="5936218" cy="287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Geração de respostas</a:t>
            </a:r>
            <a:endParaRPr lang="en-US" sz="1400" dirty="0"/>
          </a:p>
        </p:txBody>
      </p:sp>
      <p:pic>
        <p:nvPicPr>
          <p:cNvPr id="23" name="Imagem 22" descr="Diagrama, Desenho técnico&#10;&#10;O conteúdo gerado por IA pode estar incorreto.">
            <a:extLst>
              <a:ext uri="{FF2B5EF4-FFF2-40B4-BE49-F238E27FC236}">
                <a16:creationId xmlns:a16="http://schemas.microsoft.com/office/drawing/2014/main" id="{E707CFAF-B16E-00DF-F9BD-5E5631D0699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88244" y="0"/>
            <a:ext cx="5486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BFA79-FBC9-09E2-22F9-E138E0BE0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3" descr="preencoded.png">
            <a:extLst>
              <a:ext uri="{FF2B5EF4-FFF2-40B4-BE49-F238E27FC236}">
                <a16:creationId xmlns:a16="http://schemas.microsoft.com/office/drawing/2014/main" id="{B7C673DE-3F72-614F-93FA-93D769F6C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3391" y="1819870"/>
            <a:ext cx="6310789" cy="6310789"/>
          </a:xfrm>
          <a:prstGeom prst="rect">
            <a:avLst/>
          </a:prstGeom>
        </p:spPr>
      </p:pic>
      <p:sp>
        <p:nvSpPr>
          <p:cNvPr id="28" name="Text 0">
            <a:extLst>
              <a:ext uri="{FF2B5EF4-FFF2-40B4-BE49-F238E27FC236}">
                <a16:creationId xmlns:a16="http://schemas.microsoft.com/office/drawing/2014/main" id="{46759339-DE8A-169F-A7F7-BDE88728AE7B}"/>
              </a:ext>
            </a:extLst>
          </p:cNvPr>
          <p:cNvSpPr/>
          <p:nvPr/>
        </p:nvSpPr>
        <p:spPr>
          <a:xfrm>
            <a:off x="1459251" y="1034504"/>
            <a:ext cx="4937760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Impacto e Visão Futura</a:t>
            </a:r>
            <a:endParaRPr lang="en-US" sz="3850" dirty="0"/>
          </a:p>
        </p:txBody>
      </p:sp>
      <p:pic>
        <p:nvPicPr>
          <p:cNvPr id="29" name="Image 1" descr="preencoded.png">
            <a:extLst>
              <a:ext uri="{FF2B5EF4-FFF2-40B4-BE49-F238E27FC236}">
                <a16:creationId xmlns:a16="http://schemas.microsoft.com/office/drawing/2014/main" id="{8CD9F10C-0335-C16F-961F-78F7811B5E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9251" y="1819870"/>
            <a:ext cx="1234440" cy="1481257"/>
          </a:xfrm>
          <a:prstGeom prst="rect">
            <a:avLst/>
          </a:prstGeom>
        </p:spPr>
      </p:pic>
      <p:sp>
        <p:nvSpPr>
          <p:cNvPr id="30" name="Text 1">
            <a:extLst>
              <a:ext uri="{FF2B5EF4-FFF2-40B4-BE49-F238E27FC236}">
                <a16:creationId xmlns:a16="http://schemas.microsoft.com/office/drawing/2014/main" id="{5466CA38-2E1F-C87F-709E-F39582090D70}"/>
              </a:ext>
            </a:extLst>
          </p:cNvPr>
          <p:cNvSpPr/>
          <p:nvPr/>
        </p:nvSpPr>
        <p:spPr>
          <a:xfrm>
            <a:off x="2940507" y="2060039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Respostas Rápidas</a:t>
            </a:r>
            <a:endParaRPr lang="en-US" sz="1900" dirty="0"/>
          </a:p>
        </p:txBody>
      </p:sp>
      <p:pic>
        <p:nvPicPr>
          <p:cNvPr id="31" name="Image 2" descr="preencoded.png">
            <a:extLst>
              <a:ext uri="{FF2B5EF4-FFF2-40B4-BE49-F238E27FC236}">
                <a16:creationId xmlns:a16="http://schemas.microsoft.com/office/drawing/2014/main" id="{F8BC3595-F459-7A41-F1BB-A1C9EA1C9C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9251" y="3521990"/>
            <a:ext cx="1234440" cy="1481257"/>
          </a:xfrm>
          <a:prstGeom prst="rect">
            <a:avLst/>
          </a:prstGeom>
        </p:spPr>
      </p:pic>
      <p:sp>
        <p:nvSpPr>
          <p:cNvPr id="32" name="Text 3">
            <a:extLst>
              <a:ext uri="{FF2B5EF4-FFF2-40B4-BE49-F238E27FC236}">
                <a16:creationId xmlns:a16="http://schemas.microsoft.com/office/drawing/2014/main" id="{5CBCBA2B-20C7-B8C7-31AB-658C2F803E74}"/>
              </a:ext>
            </a:extLst>
          </p:cNvPr>
          <p:cNvSpPr/>
          <p:nvPr/>
        </p:nvSpPr>
        <p:spPr>
          <a:xfrm>
            <a:off x="2940507" y="3806190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Base Científica</a:t>
            </a:r>
            <a:endParaRPr lang="en-US" sz="1900" dirty="0"/>
          </a:p>
        </p:txBody>
      </p:sp>
      <p:pic>
        <p:nvPicPr>
          <p:cNvPr id="33" name="Image 3" descr="preencoded.png">
            <a:extLst>
              <a:ext uri="{FF2B5EF4-FFF2-40B4-BE49-F238E27FC236}">
                <a16:creationId xmlns:a16="http://schemas.microsoft.com/office/drawing/2014/main" id="{9C18431B-6123-F407-F003-F180D5940A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9251" y="5276016"/>
            <a:ext cx="1234440" cy="1481257"/>
          </a:xfrm>
          <a:prstGeom prst="rect">
            <a:avLst/>
          </a:prstGeom>
        </p:spPr>
      </p:pic>
      <p:sp>
        <p:nvSpPr>
          <p:cNvPr id="34" name="Text 5">
            <a:extLst>
              <a:ext uri="{FF2B5EF4-FFF2-40B4-BE49-F238E27FC236}">
                <a16:creationId xmlns:a16="http://schemas.microsoft.com/office/drawing/2014/main" id="{7360EA02-D0CA-39E3-2267-4E3EE08AA9BF}"/>
              </a:ext>
            </a:extLst>
          </p:cNvPr>
          <p:cNvSpPr/>
          <p:nvPr/>
        </p:nvSpPr>
        <p:spPr>
          <a:xfrm>
            <a:off x="2940507" y="5552341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Escalabilidade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2008941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67732" y="2341854"/>
            <a:ext cx="3465799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Muito Obrigado!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3616805" y="3306937"/>
            <a:ext cx="176765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3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Perguntas?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100</Words>
  <Application>Microsoft Office PowerPoint</Application>
  <PresentationFormat>Personalizar</PresentationFormat>
  <Paragraphs>29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Patrick Hand</vt:lpstr>
      <vt:lpstr>Arial</vt:lpstr>
      <vt:lpstr>Aptos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Gabriel Da Rosa Conceicao Damacena</cp:lastModifiedBy>
  <cp:revision>4</cp:revision>
  <dcterms:created xsi:type="dcterms:W3CDTF">2025-12-02T01:34:43Z</dcterms:created>
  <dcterms:modified xsi:type="dcterms:W3CDTF">2025-12-02T14:16:03Z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7a01d7b-e820-4c64-b341-549ce04d9d63_Enabled">
    <vt:lpwstr>true</vt:lpwstr>
  </property>
  <property fmtid="{D5CDD505-2E9C-101B-9397-08002B2CF9AE}" pid="3" name="MSIP_Label_97a01d7b-e820-4c64-b341-549ce04d9d63_SetDate">
    <vt:lpwstr>2025-12-02T14:13:07Z</vt:lpwstr>
  </property>
  <property fmtid="{D5CDD505-2E9C-101B-9397-08002B2CF9AE}" pid="4" name="MSIP_Label_97a01d7b-e820-4c64-b341-549ce04d9d63_Method">
    <vt:lpwstr>Standard</vt:lpwstr>
  </property>
  <property fmtid="{D5CDD505-2E9C-101B-9397-08002B2CF9AE}" pid="5" name="MSIP_Label_97a01d7b-e820-4c64-b341-549ce04d9d63_Name">
    <vt:lpwstr>Restrito</vt:lpwstr>
  </property>
  <property fmtid="{D5CDD505-2E9C-101B-9397-08002B2CF9AE}" pid="6" name="MSIP_Label_97a01d7b-e820-4c64-b341-549ce04d9d63_SiteId">
    <vt:lpwstr>b8fd2a17-277e-4917-b79f-eff898370dcb</vt:lpwstr>
  </property>
  <property fmtid="{D5CDD505-2E9C-101B-9397-08002B2CF9AE}" pid="7" name="MSIP_Label_97a01d7b-e820-4c64-b341-549ce04d9d63_ActionId">
    <vt:lpwstr>b81b14e0-f306-4a12-9b86-8ff60caf5227</vt:lpwstr>
  </property>
  <property fmtid="{D5CDD505-2E9C-101B-9397-08002B2CF9AE}" pid="8" name="MSIP_Label_97a01d7b-e820-4c64-b341-549ce04d9d63_ContentBits">
    <vt:lpwstr>1</vt:lpwstr>
  </property>
  <property fmtid="{D5CDD505-2E9C-101B-9397-08002B2CF9AE}" pid="9" name="MSIP_Label_97a01d7b-e820-4c64-b341-549ce04d9d63_Tag">
    <vt:lpwstr>10, 3, 0, 1</vt:lpwstr>
  </property>
  <property fmtid="{D5CDD505-2E9C-101B-9397-08002B2CF9AE}" pid="10" name="ClassificationContentMarkingHeaderLocations">
    <vt:lpwstr>Office Theme:3</vt:lpwstr>
  </property>
  <property fmtid="{D5CDD505-2E9C-101B-9397-08002B2CF9AE}" pid="11" name="ClassificationContentMarkingHeaderText">
    <vt:lpwstr>Classificação: Restrito</vt:lpwstr>
  </property>
</Properties>
</file>